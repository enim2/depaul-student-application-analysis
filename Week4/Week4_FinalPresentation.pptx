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22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internship programme. Mention this was a 4-week data analytics project with Excelerate using real DePaul University student application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describe the dataset, the goal of the internship, and the tools used across the four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what the raw dataset looked like. Highlight the key numbers — 7,543 rows, 80 columns, 38 empty columns. Share the top EDA findings before cleaning.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data quality issue category. Emphasise that identifying issues before cleaning is what makes the cleaning process informed and professional.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six cleaning sections. Emphasise that every step was documented in a Cleaning Log before execution — this is professional data cleaning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measurable impact of the cleaning work. Highlight the overall data quality score improvement from 2.4 to 4.6 out of 5 as the headline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Page 1 dashboard screenshot. Walk through each chart and explain what it shows. Mention the slicers and how they filter all visuals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Page 2 dashboard screenshot. Explain that this page focuses on what happened after students applied — outreach effectiveness and outcome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headline insights from the entire analysis. Spend time on each one and connect them back to the dashboard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recommendation, connect it directly to the data that supports it. These are evidence-based decisions, not opinions.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internship journey and what was achieved. The next steps show analytical maturity — demonstrating you see beyond what was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6949440" cy="2194560"/>
          </a:xfrm>
          <a:prstGeom prst="roundRect">
            <a:avLst>
              <a:gd name="adj" fmla="val 5000"/>
            </a:avLst>
          </a:prstGeom>
          <a:solidFill>
            <a:srgbClr val="1E5C3A"/>
          </a:solidFill>
          <a:ln w="19050">
            <a:solidFill>
              <a:srgbClr val="4CAF7D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97280" y="1051560"/>
            <a:ext cx="6949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DePaul University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Student Application Data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11680" y="3383280"/>
            <a:ext cx="5120640" cy="594360"/>
          </a:xfrm>
          <a:prstGeom prst="roundRect">
            <a:avLst>
              <a:gd name="adj" fmla="val 12308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011680" y="340156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3A2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Presentation - Week 4  |  Excelerate Data Analytics Internship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Prepared by: </a:t>
            </a:r>
            <a:r>
              <a:rPr lang="en-US" sz="1000" b="1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Enimabasi Ukpong   </a:t>
            </a:r>
            <a:r>
              <a:rPr lang="en-US" sz="100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|  Date: </a:t>
            </a:r>
            <a:r>
              <a:rPr lang="en-US" sz="1000" b="1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30 June 2026   </a:t>
            </a:r>
            <a:r>
              <a:rPr lang="en-US" sz="100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|  Tool: </a:t>
            </a:r>
            <a:r>
              <a:rPr lang="en-US" sz="1000" b="1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MS Excel · Power BI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2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Project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788920" cy="36576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25400">
            <a:solidFill>
              <a:srgbClr val="1E5C3A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475488"/>
          </a:xfrm>
          <a:prstGeom prst="roundRect">
            <a:avLst>
              <a:gd name="adj" fmla="val 19231"/>
            </a:avLst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88696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Dataset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4048" y="1417320"/>
            <a:ext cx="2578608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7,543 student application records from DePaul University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 original columns across demographics, programs, admissions &amp; outreach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spanning May 2023 – June 2025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788920" cy="36576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254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88920" cy="475488"/>
          </a:xfrm>
          <a:prstGeom prst="roundRect">
            <a:avLst>
              <a:gd name="adj" fmla="val 19231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46120" y="88696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Objectives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55848" y="1417320"/>
            <a:ext cx="2578608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Explore &amp; understand the raw dataset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and standardise the data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an interactive dashboard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Derive actionable recruitment insights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0" y="868680"/>
            <a:ext cx="2788920" cy="36576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25400">
            <a:solidFill>
              <a:srgbClr val="4CAF7D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788920" cy="475488"/>
          </a:xfrm>
          <a:prstGeom prst="roundRect">
            <a:avLst>
              <a:gd name="adj" fmla="val 19231"/>
            </a:avLst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217920" y="88696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Tools Used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27648" y="1417320"/>
            <a:ext cx="2578608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MS Excel - EDA &amp; Visualizations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Sheets - Data cleaning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 BI - Interactive dashboard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PowerPoint - Dashboard background design and Presentation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Week 1 - Data Exploration &amp; EDA</a:t>
            </a:r>
            <a:endParaRPr lang="en-US" sz="2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4114800" cy="4005072"/>
          </a:xfrm>
          <a:prstGeom prst="roundRect">
            <a:avLst>
              <a:gd name="adj" fmla="val 2283"/>
            </a:avLst>
          </a:prstGeom>
          <a:solidFill>
            <a:srgbClr val="1E5C3A"/>
          </a:solidFill>
          <a:ln w="127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at a Glance</a:t>
            </a:r>
            <a:endParaRPr lang="en-US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7,543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463040" y="136245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Records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84708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80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18836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Original Columns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36829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96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63040" y="2404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Countries Represented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88950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Duplicate Rows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34107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63040" y="3447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Completely Empty Columns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9319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63040" y="39684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Unreadable Timestamp Columns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804672"/>
            <a:ext cx="4206240" cy="4005072"/>
          </a:xfrm>
          <a:prstGeom prst="roundRect">
            <a:avLst>
              <a:gd name="adj" fmla="val 2283"/>
            </a:avLst>
          </a:prstGeom>
          <a:solidFill>
            <a:srgbClr val="1E5C3A"/>
          </a:solidFill>
          <a:ln w="127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663440" y="8412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EDA Findings</a:t>
            </a:r>
            <a:endParaRPr lang="en-US" sz="1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73168" y="129844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0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 accounts for 61.2% of all applicants (4,617 of 7,543)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73168" y="180136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0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Business Analytics MS (1,080) &amp; Computer Science MS (1,055) are top programs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73168" y="230428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0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Jarvis College of Computing received 50.8% of first-choice selections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73168" y="280720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0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86.5% of applicants came through Non Study Group channels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73168" y="331012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0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Admissions grew 176.3% from 2023 (1,377) to 2024 (3,805)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773168" y="381304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 </a:t>
            </a:r>
            <a:r>
              <a:rPr lang="en-US" sz="100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42.3% of applicants - 3,194 students were never contacted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2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Week 1 - Data Quality Report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933040"/>
              </p:ext>
            </p:extLst>
          </p:nvPr>
        </p:nvGraphicFramePr>
        <p:xfrm>
          <a:off x="274320" y="804672"/>
          <a:ext cx="8595360" cy="4023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Issue Found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Recommendation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Missing Values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38 columns 100% empty; 32 columns partially missing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Drop empty columns; label meaningful blanks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Duplicate Rows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 duplicate rows found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 action needed 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Spelling Errors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Recieved_At and Counsler misspelled in column names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Rename to Received_At and Counselor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Timestamps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Received_At, Created_At, Modified_At stored as 13-digit Unix numbers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Convert to readable date format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Text Inconsistencies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Country names inconsistently capitalised; Application_Source mixed case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Standardise using PROPER() and Find &amp; Replace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Combined Columns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College and Intake each pack multiple values in one cell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Split into separate columns during cleaning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Phone Numbers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Mixed formats; some corrupted to scientific notation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Flag corrupted rows - unrecoverable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Duplicate Columns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12 columns ending in -2 or -3 from merged table export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Review and drop confirmed duplicates</a:t>
                      </a:r>
                      <a:endParaRPr lang="en-US" sz="9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Week 2 - Data Cleaning Process</a:t>
            </a:r>
            <a:endParaRPr lang="en-US" sz="2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17 documented cleaning steps across 6 sections - executed in Google Sheets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1E5C3A"/>
          </a:solidFill>
          <a:ln w="19050">
            <a:solidFill>
              <a:srgbClr val="E05C3A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384048" cy="384048"/>
          </a:xfrm>
          <a:prstGeom prst="ellipse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5C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Column Removal Steps 1-3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153619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Deleted 38 empty, 5 zero-variance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 6 duplicate columns → 49 removed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395728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1E5C3A"/>
          </a:solidFill>
          <a:ln w="19050">
            <a:solidFill>
              <a:srgbClr val="F5A623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4871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Column Renaming Steps 4-5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Recieved_At → Received_At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Counsler → Counselor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3694176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1E5C3A"/>
          </a:solidFill>
          <a:ln w="19050">
            <a:solidFill>
              <a:srgbClr val="4CAF7D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65760" y="3950208"/>
            <a:ext cx="384048" cy="384048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78561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Format Correction Steps 6-8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413308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Converted 3 Unix timestamp columns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Formatted Admit_Date &amp; Start_Date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1E5C3A"/>
          </a:solidFill>
          <a:ln w="1905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353312"/>
            <a:ext cx="384048" cy="384048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0060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118872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 Standardization  Steps 9-11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57800" y="1536192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Country names - PROPER() function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Application_Source - Find &amp; Replace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Phone numbers - flagged corrupted rows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09160" y="2395728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1E5C3A"/>
          </a:solidFill>
          <a:ln w="19050">
            <a:solidFill>
              <a:srgbClr val="1E5C3A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800600" y="2651760"/>
            <a:ext cx="384048" cy="38404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E5C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006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4871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Column Splitting Steps 12-13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57800" y="283464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Intake → Program + Intake_Term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College - flagged, not split (inconsistent)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09160" y="3694176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1E5C3A"/>
          </a:solidFill>
          <a:ln w="1905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800600" y="3950208"/>
            <a:ext cx="384048" cy="384048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8006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78561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Value Handling Steps 14-17</a:t>
            </a:r>
            <a:endParaRPr lang="en-US" sz="1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257800" y="4133088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Outcome_1 blanks = 'Not Contacted'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Slate_Form_Filled blanks = 'Not Recorded'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Remark, Street_2, Comments - retained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2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Week 2 - Before &amp; After: Cleaning Impact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444867"/>
              </p:ext>
            </p:extLst>
          </p:nvPr>
        </p:nvGraphicFramePr>
        <p:xfrm>
          <a:off x="365760" y="804672"/>
          <a:ext cx="8412480" cy="39776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Metric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Before Cleaning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After Cleaning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Change</a:t>
                      </a:r>
                      <a:endParaRPr lang="en-US" sz="11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Total Columns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05C3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80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33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47 removed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Empty Columns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05C3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38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38 removed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Unusable Columns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05C3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49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49 removed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Unreadable Timestamp Columns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05C3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 converted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Column Name Spelling Errors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05C3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 fixed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Blank Cells in Outcome_1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05C3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42.3%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0%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Labelled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Blank Cells in Slate_Form_Filled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05C3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42.3%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0%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Labelled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Overall Data Quality Score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05C3A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2.4 / 5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4.6 / 5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7D52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 +2.2 pts</a:t>
                      </a:r>
                      <a:endParaRPr lang="en-US" sz="105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Week 3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-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Interactive Dashboard Page 1: Applicant Overview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mnt/user-data/uploads/Screenshot_2026-06-15_2109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66928"/>
            <a:ext cx="5943600" cy="4023360"/>
          </a:xfrm>
          <a:prstGeom prst="rect">
            <a:avLst/>
          </a:prstGeom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400800" y="566928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1E5C3A"/>
          </a:solidFill>
          <a:ln w="127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0" y="6217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Page 1 Highlights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92240" y="1078992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KPI cards - instant headline metrics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92240" y="155448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dropdown slicers - cross-page interactive filters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92240" y="2029968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10 Countries chart - India at 4,617 (61.2%)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92240" y="2505456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10 Programs - Business Analytics leads at 1,080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92240" y="2980944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Admissions by Year - 176% growth 2023→2024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0" y="3456432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 by Source - 86.5% Non Study Group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92240" y="393192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College First Choice - Jarvis at 3,831 (50.8%)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Week 3 - Interactive Dashboard Page 2: Admissions &amp; Outreach Performance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mnt/user-data/uploads/Screenshot_2026-06-15_2112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66928"/>
            <a:ext cx="5943600" cy="4023360"/>
          </a:xfrm>
          <a:prstGeom prst="rect">
            <a:avLst/>
          </a:prstGeom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400800" y="566928"/>
            <a:ext cx="2514600" cy="4023360"/>
          </a:xfrm>
          <a:prstGeom prst="roundRect">
            <a:avLst>
              <a:gd name="adj" fmla="val 3636"/>
            </a:avLst>
          </a:prstGeom>
          <a:solidFill>
            <a:srgbClr val="1E5C3A"/>
          </a:solidFill>
          <a:ln w="127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0" y="62179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Page 2 Highlights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92240" y="10789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Contacted vs Not Contacted - 57.7% vs 42.3%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92240" y="162763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Outreach Outcome Breakdown - Follow up leads at 1,375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92240" y="217627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Transcript - 2nd biggest issue at 1,177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92240" y="272491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9 Countries by Source - India: 3,956 Non Study Group + 661 Study Group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92240" y="327355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5 Programs by Intake Term - Fall dominates all programs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0" y="38221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▸ </a:t>
            </a: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Slicers synced across both pages automatically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2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 Insights &amp; Trends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42062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25400">
            <a:solidFill>
              <a:srgbClr val="E05C3A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457200" cy="457200"/>
          </a:xfrm>
          <a:prstGeom prst="ellipse">
            <a:avLst/>
          </a:prstGeom>
          <a:solidFill>
            <a:srgbClr val="E05C3A"/>
          </a:solidFill>
          <a:ln w="12700">
            <a:solidFill>
              <a:srgbClr val="E05C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84048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Geographic Concentration Risk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39903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 accounts for 61.2% of all applicants. Four countries - India, USA, Ghana, Nigeria represent 83% of the entire pipeline. This concentration means any policy or interest shift in India could significantly impact DePaul's intake numbers.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2062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254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818888" y="914400"/>
            <a:ext cx="457200" cy="457200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18888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49240" y="914400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Programs Drive Demand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39903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of the top 10 programs are technology or data-focused. Business Analytics MS and Computer Science MS together account for 27.9% of all applications. Jarvis College of Computing received 50.8% of all first-choice college selections.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907792"/>
            <a:ext cx="42062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25400">
            <a:solidFill>
              <a:srgbClr val="4CAF7D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84048" y="3017520"/>
            <a:ext cx="457200" cy="457200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8404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176% Admissions Growth in 2024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50215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Admitted students grew from 1,377 in 2023 to 3,805 in 2024 nearly tripling in one year. 2025 shows 607 on a partial year. Understanding what drove this spike is a priority for strategic planning.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09160" y="2907792"/>
            <a:ext cx="42062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818888" y="301752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18888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49240" y="3017520"/>
            <a:ext cx="3456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Outreach Coverage Gap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350215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3,194 students (42.3%) were never contacted. Every contacted student received exactly one outreach attempt; no multi-touch follow-up exists in the data. Transcript collection (1,177 cases) is the single biggest bottleneck.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Actionable Recommendations</a:t>
            </a:r>
            <a:endParaRPr lang="en-US" sz="2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E5C3A"/>
          </a:solidFill>
          <a:ln w="127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463040" cy="749808"/>
          </a:xfrm>
          <a:prstGeom prst="roundRect">
            <a:avLst>
              <a:gd name="adj" fmla="val 9756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92608" y="786384"/>
            <a:ext cx="14264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Recruitment Targeting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74520" y="80467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Diversify beyond India</a:t>
            </a:r>
            <a:endParaRPr 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74520" y="107899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targeted campaigns in Ghana (440), Nigeria (430) and Pakistan (273) which already show strong organic interest. Reduce dependence on a single country market.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E5C3A"/>
          </a:solidFill>
          <a:ln w="127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1463040" cy="749808"/>
          </a:xfrm>
          <a:prstGeom prst="roundRect">
            <a:avLst>
              <a:gd name="adj" fmla="val 9756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2608" y="1636776"/>
            <a:ext cx="14264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Channel Strategy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74520" y="16550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Expand Study Group partnerships strategically</a:t>
            </a:r>
            <a:endParaRPr 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74520" y="192938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Study Group activity is concentrated in India and USA only. Evaluate whether partnerships in Ghana and Nigeria would increase conversion from those growing markets.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E5C3A"/>
          </a:solidFill>
          <a:ln w="127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1463040" cy="749808"/>
          </a:xfrm>
          <a:prstGeom prst="roundRect">
            <a:avLst>
              <a:gd name="adj" fmla="val 9756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92608" y="2487168"/>
            <a:ext cx="14264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Counselor Engagement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74520" y="2505456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Implement multi-touch outreach protocol</a:t>
            </a:r>
            <a:endParaRPr 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74520" y="277977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Replace the current single-contact model with a structured two-attempt minimum. Prioritise the 3,194 uncontacted students as an immediate re-engagement opportunity.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3300984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E5C3A"/>
          </a:solidFill>
          <a:ln w="127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74320" y="3300984"/>
            <a:ext cx="1463040" cy="749808"/>
          </a:xfrm>
          <a:prstGeom prst="roundRect">
            <a:avLst>
              <a:gd name="adj" fmla="val 9756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2608" y="3337560"/>
            <a:ext cx="14264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 Improvement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74520" y="335584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 transcript reminders</a:t>
            </a:r>
            <a:endParaRPr 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874520" y="363016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transcripts (1,177 cases) is the biggest resolved outreach issue. An automated reminder triggered at application submission would reduce manual counselor follow-ups.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4151376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E5C3A"/>
          </a:solidFill>
          <a:ln w="1270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4320" y="4151376"/>
            <a:ext cx="1463040" cy="749808"/>
          </a:xfrm>
          <a:prstGeom prst="roundRect">
            <a:avLst>
              <a:gd name="adj" fmla="val 9756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2608" y="4187952"/>
            <a:ext cx="14264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Capacity Planning</a:t>
            </a:r>
            <a:endParaRPr lang="en-US" sz="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874520" y="42062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Scale resources for Fall intake peaks</a:t>
            </a:r>
            <a:endParaRPr lang="en-US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874520" y="44805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5E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Fall 2024 (3,284) and Fall 2025 (1,434) dominate all intake terms across every top program. Counselor staffing and visa processing support must be scaled ahead of Fall peaks.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2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 &amp; Next Steps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2E7D52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4160520" cy="402336"/>
          </a:xfrm>
          <a:prstGeom prst="roundRect">
            <a:avLst>
              <a:gd name="adj" fmla="val 22727"/>
            </a:avLst>
          </a:prstGeom>
          <a:solidFill>
            <a:srgbClr val="1E5C3A"/>
          </a:solidFill>
          <a:ln w="12700">
            <a:solidFill>
              <a:srgbClr val="1E5C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Takeaways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</a:t>
            </a: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data is never ready for analysis, structured cleaning is essential before any insight can be trusted.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792224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</a:t>
            </a: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61.2% concentration in India is the single biggest strategic risk in DePaul's applicant pipeline.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</a:t>
            </a: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Technology programs drive demand; 7 of top 10 programs are tech or data-focused.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779776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</a:t>
            </a: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42.3% outreach gap represents a significant missed engagement opportunity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327355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</a:t>
            </a: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data quality score improvement from 2.4 to 4.6 out of 5 demonstrates the value of systematic cleaning.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376732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5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  </a:t>
            </a: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interactive dashboard enables DePaul to make real-time, evidence-based recruitment decisions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09160" y="786384"/>
            <a:ext cx="4160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9050">
            <a:solidFill>
              <a:srgbClr val="4CAF7D"/>
            </a:solidFill>
            <a:prstDash val="solid"/>
          </a:ln>
          <a:effectLst>
            <a:outerShdw blurRad="762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709160" y="786384"/>
            <a:ext cx="4160520" cy="402336"/>
          </a:xfrm>
          <a:prstGeom prst="roundRect">
            <a:avLst>
              <a:gd name="adj" fmla="val 22727"/>
            </a:avLst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09160" y="8046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Potential Next Steps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28032" y="1298448"/>
            <a:ext cx="310896" cy="3108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28032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93792" y="123836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the College column, split into Previous Country, University, and Degree for richer origin analysis.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28032" y="1847088"/>
            <a:ext cx="310896" cy="3108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28032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93792" y="1767403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Investigate what drove the 176.3% admissions growth in 2024 through time-series analysis.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28032" y="2395728"/>
            <a:ext cx="310896" cy="3108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28032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3792" y="232257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Profile the 3,194 uncontacted students by country, program and year to plan targeted re-engagement.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28032" y="2944368"/>
            <a:ext cx="310896" cy="3108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28032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93792" y="285815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 predictive model to identify which applicants are most likely to convert to enrolled students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28032" y="3493008"/>
            <a:ext cx="310896" cy="310896"/>
          </a:xfrm>
          <a:prstGeom prst="ellipse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28032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33937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Integrate real-time data pipeline from DePaul's admissions system for live dashboard updates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1614</Words>
  <Application>Microsoft Office PowerPoint</Application>
  <PresentationFormat>On-screen Show (16:9)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DePaul University Student Application Data — Final Presentation</dc:title>
  <dc:subject>PptxGenJS Presentation</dc:subject>
  <dc:creator>World Best</dc:creator>
  <cp:lastModifiedBy>Semaediong Ukpong</cp:lastModifiedBy>
  <cp:revision>2</cp:revision>
  <dcterms:created xsi:type="dcterms:W3CDTF">2026-06-19T19:02:13Z</dcterms:created>
  <dcterms:modified xsi:type="dcterms:W3CDTF">2026-07-01T01:14:59Z</dcterms:modified>
</cp:coreProperties>
</file>